
<file path=[Content_Types].xml><?xml version="1.0" encoding="utf-8"?>
<Types xmlns="http://schemas.openxmlformats.org/package/2006/content-types">
  <Default Extension="emf" ContentType="image/x-emf"/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7" r:id="rId1"/>
  </p:sldMasterIdLst>
  <p:notesMasterIdLst>
    <p:notesMasterId r:id="rId19"/>
  </p:notesMasterIdLst>
  <p:sldIdLst>
    <p:sldId id="262" r:id="rId2"/>
    <p:sldId id="357" r:id="rId3"/>
    <p:sldId id="342" r:id="rId4"/>
    <p:sldId id="343" r:id="rId5"/>
    <p:sldId id="344" r:id="rId6"/>
    <p:sldId id="358" r:id="rId7"/>
    <p:sldId id="345" r:id="rId8"/>
    <p:sldId id="346" r:id="rId9"/>
    <p:sldId id="348" r:id="rId10"/>
    <p:sldId id="351" r:id="rId11"/>
    <p:sldId id="354" r:id="rId12"/>
    <p:sldId id="359" r:id="rId13"/>
    <p:sldId id="362" r:id="rId14"/>
    <p:sldId id="361" r:id="rId15"/>
    <p:sldId id="363" r:id="rId16"/>
    <p:sldId id="365" r:id="rId17"/>
    <p:sldId id="35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268D"/>
    <a:srgbClr val="1D1C68"/>
    <a:srgbClr val="EBEBEB"/>
    <a:srgbClr val="3332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6275"/>
  </p:normalViewPr>
  <p:slideViewPr>
    <p:cSldViewPr snapToGrid="0">
      <p:cViewPr varScale="1">
        <p:scale>
          <a:sx n="96" d="100"/>
          <a:sy n="96" d="100"/>
        </p:scale>
        <p:origin x="176" y="216"/>
      </p:cViewPr>
      <p:guideLst/>
    </p:cSldViewPr>
  </p:slideViewPr>
  <p:outlineViewPr>
    <p:cViewPr>
      <p:scale>
        <a:sx n="33" d="100"/>
        <a:sy n="33" d="100"/>
      </p:scale>
      <p:origin x="0" y="-53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F3D37-3496-A44A-8343-ED728899321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22501C-6AED-394F-A971-A892DC8FF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79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A29F9-F86E-41D1-8ACA-F7E721050A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07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A29F9-F86E-41D1-8ACA-F7E721050A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49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A29F9-F86E-41D1-8ACA-F7E721050A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27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A29F9-F86E-41D1-8ACA-F7E721050AB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97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A29F9-F86E-41D1-8ACA-F7E721050AB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82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A29F9-F86E-41D1-8ACA-F7E721050AB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35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A29F9-F86E-41D1-8ACA-F7E721050AB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993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A29F9-F86E-41D1-8ACA-F7E721050AB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295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A29F9-F86E-41D1-8ACA-F7E721050AB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668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A29F9-F86E-41D1-8ACA-F7E721050AB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50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718AE611-130E-0D2E-E802-8A36716DB9FC}"/>
              </a:ext>
            </a:extLst>
          </p:cNvPr>
          <p:cNvSpPr txBox="1">
            <a:spLocks/>
          </p:cNvSpPr>
          <p:nvPr/>
        </p:nvSpPr>
        <p:spPr>
          <a:xfrm>
            <a:off x="1523999" y="3556001"/>
            <a:ext cx="9144000" cy="57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64CE541A-6BE9-11BD-EA23-8EFFEB67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11" y="779558"/>
            <a:ext cx="10903974" cy="1563935"/>
          </a:xfrm>
          <a:prstGeom prst="roundRect">
            <a:avLst/>
          </a:prstGeom>
          <a:solidFill>
            <a:schemeClr val="accent1"/>
          </a:solidFill>
          <a:effectLst>
            <a:outerShdw blurRad="152400" dist="177800" dir="2700000" algn="tl" rotWithShape="0">
              <a:prstClr val="black">
                <a:alpha val="28000"/>
              </a:prstClr>
            </a:outerShdw>
          </a:effectLst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4B9EEEA-4E55-EBA2-FD56-C7F246D4D4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81211" y="2875826"/>
            <a:ext cx="8029575" cy="88843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Your name here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7712E16-869E-C669-4D08-61CB38A952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81211" y="4016919"/>
            <a:ext cx="8029574" cy="11623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dirty="0"/>
              <a:t>Your Institution here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F3E5E026-FF93-380A-0369-EE921FD448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81211" y="5446367"/>
            <a:ext cx="8029574" cy="80724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C46A339-0CEF-4204-070F-6F207DD8DA16}"/>
              </a:ext>
            </a:extLst>
          </p:cNvPr>
          <p:cNvSpPr txBox="1">
            <a:spLocks/>
          </p:cNvSpPr>
          <p:nvPr userDrawn="1"/>
        </p:nvSpPr>
        <p:spPr>
          <a:xfrm>
            <a:off x="1523999" y="3556001"/>
            <a:ext cx="9144000" cy="57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21914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CAB9-FDBF-45A0-942B-6CD2D2969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942EA-E749-4D6C-901E-AB3CC35FD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D7A8DE-4E81-1B9E-C59A-4EAF84730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764C7-66E2-6D40-8E1B-BDE780E21F15}" type="datetime4">
              <a:rPr lang="en-US" smtClean="0"/>
              <a:t>October 8,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F5A65D-E5D6-D9D8-F2F3-15F0106E4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1DBC31-C26C-5121-C688-D671E483E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2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C0D2D-11F9-48E3-BDFD-009EB9BB2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A0E9E-29C7-4254-9EF1-22FC64B56F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3693F-2B5D-47A4-9937-F8D0829FE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2F39FA0-3E19-D526-8868-D57F63069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FC262-07B1-0C44-9FE1-F02EB1791D25}" type="datetime4">
              <a:rPr lang="en-US" smtClean="0"/>
              <a:t>October 8, 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9DBD2E6-2332-1BF3-4E35-20FC2A3C7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B3F3F2-4DBF-CF34-23EC-A86421F03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91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740E5-4C34-4241-9607-30A57A5EF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0920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3C258-E6CF-4250-9ADE-3CCF91421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3311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3D0E3-F2B3-4828-9FE8-79E35EBAD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0920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FC978-7416-4BEC-A3E2-5F84F4560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3311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CEAA7D5A-E2C3-8158-2C65-6FCE700A0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7525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2743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46AA4AE-5CBB-E3C2-7214-7D2F7572D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07995-98A5-C24A-92FA-7AEA288D7F18}" type="datetime4">
              <a:rPr lang="en-US" smtClean="0"/>
              <a:t>October 8, 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51305C1-B853-FF86-C7D1-E0E9B71E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7D36C77-B794-D188-CDB9-829834A75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12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B6189-0E78-45C1-8704-51B6FC39F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217D2-E09D-B61B-12D8-0D0B70BCE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92E6-4A7B-EF47-9AA6-B821F4477101}" type="datetime4">
              <a:rPr lang="en-US" smtClean="0"/>
              <a:t>October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EB204-6B38-8446-1F52-AB40F5CB0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69B5B3-B203-68F0-BC8C-939AE8DA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16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BA2CA-43B7-CFEB-A82E-805086070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35CD2-295C-814C-9110-5E9A795AEA05}" type="datetime4">
              <a:rPr lang="en-US" smtClean="0"/>
              <a:t>October 8,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D12E6-52D2-70A6-FF8A-7D3226905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264E2-CD46-217A-CB3F-C1B24128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0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718AE611-130E-0D2E-E802-8A36716DB9FC}"/>
              </a:ext>
            </a:extLst>
          </p:cNvPr>
          <p:cNvSpPr txBox="1">
            <a:spLocks/>
          </p:cNvSpPr>
          <p:nvPr userDrawn="1"/>
        </p:nvSpPr>
        <p:spPr>
          <a:xfrm>
            <a:off x="1523999" y="3556001"/>
            <a:ext cx="9144000" cy="57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64CE541A-6BE9-11BD-EA23-8EFFEB67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11" y="779558"/>
            <a:ext cx="10903974" cy="1563935"/>
          </a:xfrm>
          <a:prstGeom prst="roundRect">
            <a:avLst/>
          </a:prstGeom>
          <a:solidFill>
            <a:schemeClr val="accent1"/>
          </a:solidFill>
          <a:effectLst>
            <a:outerShdw blurRad="152400" dist="177800" dir="2700000" algn="tl" rotWithShape="0">
              <a:prstClr val="black">
                <a:alpha val="28000"/>
              </a:prstClr>
            </a:outerShdw>
          </a:effectLst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4B9EEEA-4E55-EBA2-FD56-C7F246D4D4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81211" y="2875826"/>
            <a:ext cx="8029575" cy="88843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Your name here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7712E16-869E-C669-4D08-61CB38A952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81211" y="4016919"/>
            <a:ext cx="8029574" cy="11623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dirty="0"/>
              <a:t>Your Institution here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F3E5E026-FF93-380A-0369-EE921FD448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81211" y="5446367"/>
            <a:ext cx="8029574" cy="80724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277768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740E5-4C34-4241-9607-30A57A5EF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3C258-E6CF-4250-9ADE-3CCF91421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3D0E3-F2B3-4828-9FE8-79E35EBAD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FC978-7416-4BEC-A3E2-5F84F4560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CEAA7D5A-E2C3-8158-2C65-6FCE700A0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7525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2743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46AA4AE-5CBB-E3C2-7214-7D2F7572D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0F110-9FB0-6A4A-BC8B-E039326021A4}" type="datetime4">
              <a:rPr lang="en-US" smtClean="0"/>
              <a:t>October 8, 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51305C1-B853-FF86-C7D1-E0E9B71E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7D36C77-B794-D188-CDB9-829834A75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8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B6189-0E78-45C1-8704-51B6FC39F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217D2-E09D-B61B-12D8-0D0B70BCE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D0940-241C-0E45-92EB-81687EC2AC3C}" type="datetime4">
              <a:rPr lang="en-US" smtClean="0"/>
              <a:t>October 8,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EB204-6B38-8446-1F52-AB40F5CB0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69B5B3-B203-68F0-BC8C-939AE8DA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1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84286-880B-57FC-DB81-FFF3401CB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675FE2-4B4A-D8D3-B2FA-EB014F9C6D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77FF6-35FE-31D5-39BB-AE226A2B778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56979F7-DE3C-1147-A6AB-64A342E0F8FF}" type="datetime4">
              <a:rPr lang="en-US" smtClean="0"/>
              <a:t>October 8,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6B267-E163-B80C-46EF-94954F74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2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BA2CA-43B7-CFEB-A82E-805086070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54F2-722B-EB42-92DA-F7184B20F9BE}" type="datetime4">
              <a:rPr lang="en-US" smtClean="0"/>
              <a:t>October 8,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D12E6-52D2-70A6-FF8A-7D3226905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264E2-CD46-217A-CB3F-C1B24128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61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2B08E9-BC93-4F3C-8000-6931DF2B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7525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2743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A7735-0958-4F79-9D87-67DA22BCF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8294" y="1519311"/>
            <a:ext cx="10045505" cy="2863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This is the first</a:t>
            </a:r>
          </a:p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C9FBB-1B4B-432A-8E9F-8BBCFF5C4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68457"/>
            <a:ext cx="6096000" cy="28954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en-US"/>
              <a:t>Foot here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F1E52-7DB8-F263-DB4E-89CD576E4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568457"/>
            <a:ext cx="2743200" cy="28954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C75977D7-C895-F64F-9985-4AD25A950274}" type="datetime4">
              <a:rPr lang="en-US" smtClean="0"/>
              <a:t>October 8, 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7ED53F-A44E-D7C1-8A87-59E183446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568457"/>
            <a:ext cx="3352800" cy="28954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fld id="{FAA8105A-9F50-7A47-B22F-19856B84F6D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B20306-4F53-CDAC-E5E3-EB005DBEEC1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925" y="6331058"/>
            <a:ext cx="3946453" cy="21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103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49" r:id="rId7"/>
    <p:sldLayoutId id="2147483653" r:id="rId8"/>
    <p:sldLayoutId id="2147483654" r:id="rId9"/>
    <p:sldLayoutId id="2147483656" r:id="rId10"/>
    <p:sldLayoutId id="214748365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CMU Sans Serif" panose="02000603000000000000" pitchFamily="2" charset="0"/>
          <a:ea typeface="CMU Sans Serif" panose="02000603000000000000" pitchFamily="2" charset="0"/>
          <a:cs typeface="CMU Sans Serif" panose="02000603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MU Sans Serif" panose="02000603000000000000" pitchFamily="2" charset="0"/>
          <a:ea typeface="CMU Sans Serif" panose="02000603000000000000" pitchFamily="2" charset="0"/>
          <a:cs typeface="CMU Sans Serif" panose="02000603000000000000" pitchFamily="2" charset="0"/>
        </a:defRPr>
      </a:lvl1pPr>
      <a:lvl2pPr marL="685800" indent="-228600" algn="just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MU Sans Serif" panose="02000603000000000000" pitchFamily="2" charset="0"/>
          <a:ea typeface="CMU Sans Serif" panose="02000603000000000000" pitchFamily="2" charset="0"/>
          <a:cs typeface="CMU Sans Serif" panose="02000603000000000000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MU Sans Serif" panose="02000603000000000000" pitchFamily="2" charset="0"/>
          <a:ea typeface="CMU Sans Serif" panose="02000603000000000000" pitchFamily="2" charset="0"/>
          <a:cs typeface="CMU Sans Serif" panose="02000603000000000000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MU Sans Serif" panose="02000603000000000000" pitchFamily="2" charset="0"/>
          <a:ea typeface="CMU Sans Serif" panose="02000603000000000000" pitchFamily="2" charset="0"/>
          <a:cs typeface="CMU Sans Serif" panose="02000603000000000000" pitchFamily="2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MU Sans Serif" panose="02000603000000000000" pitchFamily="2" charset="0"/>
          <a:ea typeface="CMU Sans Serif" panose="02000603000000000000" pitchFamily="2" charset="0"/>
          <a:cs typeface="CMU Sans Serif" panose="02000603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4AEBA-27BF-32B8-2A68-AEE6E6BA6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Coding Practices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D9C1E-AC98-1E97-465D-E8D6CB3B44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81211" y="2875826"/>
            <a:ext cx="8029575" cy="542061"/>
          </a:xfrm>
        </p:spPr>
        <p:txBody>
          <a:bodyPr/>
          <a:lstStyle/>
          <a:p>
            <a:r>
              <a:rPr lang="en-US" dirty="0"/>
              <a:t>Nicholas J. Gotelli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631B3-FD18-6622-BA3C-4643C79197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81211" y="3440114"/>
            <a:ext cx="8029574" cy="1162300"/>
          </a:xfrm>
        </p:spPr>
        <p:txBody>
          <a:bodyPr/>
          <a:lstStyle/>
          <a:p>
            <a:r>
              <a:rPr lang="en-US" dirty="0"/>
              <a:t>Department of Biology</a:t>
            </a:r>
          </a:p>
          <a:p>
            <a:r>
              <a:rPr lang="en-US" dirty="0"/>
              <a:t>University of Vermont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F925F9-9EE8-5850-F5ED-093A156963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935125" y="4386469"/>
            <a:ext cx="8321746" cy="1893648"/>
          </a:xfrm>
        </p:spPr>
        <p:txBody>
          <a:bodyPr>
            <a:normAutofit/>
          </a:bodyPr>
          <a:lstStyle/>
          <a:p>
            <a:r>
              <a:rPr lang="en-US" dirty="0"/>
              <a:t>14-15 October 2026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INTERNATIONAL BIOGEOGRAPHY SOCIETY</a:t>
            </a:r>
          </a:p>
        </p:txBody>
      </p:sp>
    </p:spTree>
    <p:extLst>
      <p:ext uri="{BB962C8B-B14F-4D97-AF65-F5344CB8AC3E}">
        <p14:creationId xmlns:p14="http://schemas.microsoft.com/office/powerpoint/2010/main" val="203419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DB2E04-0DDE-7A3F-382E-7B31E29DD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E89E88-0A93-4E1C-38AA-05354CA7C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930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Char char="-"/>
            </a:pPr>
            <a:r>
              <a:rPr lang="en-US" dirty="0"/>
              <a:t>The Problem of Scaling</a:t>
            </a:r>
          </a:p>
          <a:p>
            <a:pPr>
              <a:buFontTx/>
              <a:buChar char="-"/>
            </a:pPr>
            <a:r>
              <a:rPr lang="en-US" dirty="0"/>
              <a:t>Set Up in RStudio</a:t>
            </a:r>
          </a:p>
          <a:p>
            <a:pPr>
              <a:buFontTx/>
              <a:buChar char="-"/>
            </a:pPr>
            <a:r>
              <a:rPr lang="en-US" dirty="0"/>
              <a:t>Organization of an RStudio Project</a:t>
            </a:r>
          </a:p>
          <a:p>
            <a:pPr>
              <a:buFontTx/>
              <a:buChar char="-"/>
            </a:pPr>
            <a:r>
              <a:rPr lang="en-US" dirty="0"/>
              <a:t>Annotation of Script Files and Data Files</a:t>
            </a:r>
          </a:p>
          <a:p>
            <a:pPr>
              <a:buFontTx/>
              <a:buChar char="-"/>
            </a:pPr>
            <a:r>
              <a:rPr lang="en-US" dirty="0"/>
              <a:t>Logging</a:t>
            </a:r>
          </a:p>
          <a:p>
            <a:pPr>
              <a:buFontTx/>
              <a:buChar char="-"/>
            </a:pPr>
            <a:r>
              <a:rPr lang="en-US" dirty="0"/>
              <a:t>Saving &amp; Restoring R data objects (RDS)</a:t>
            </a:r>
          </a:p>
          <a:p>
            <a:pPr>
              <a:buFontTx/>
              <a:buChar char="-"/>
            </a:pPr>
            <a:r>
              <a:rPr lang="en-US" dirty="0"/>
              <a:t>Useful Tools (progress bar, timer, padded labels)</a:t>
            </a:r>
          </a:p>
          <a:p>
            <a:pPr>
              <a:buFontTx/>
              <a:buChar char="-"/>
            </a:pPr>
            <a:r>
              <a:rPr lang="en-US" dirty="0"/>
              <a:t>User-defined Functions</a:t>
            </a:r>
          </a:p>
          <a:p>
            <a:pPr>
              <a:buFontTx/>
              <a:buChar char="-"/>
            </a:pPr>
            <a:r>
              <a:rPr lang="en-US" dirty="0"/>
              <a:t>Pseudocode &amp; Functional Programming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2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DB2E04-0DDE-7A3F-382E-7B31E29DD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Problem of Scaling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1E2465-7795-E4BC-6EAD-0602743118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514" y="1956363"/>
            <a:ext cx="5745086" cy="37330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1A2164-8B8D-2318-19E6-5414D6E6C392}"/>
              </a:ext>
            </a:extLst>
          </p:cNvPr>
          <p:cNvSpPr txBox="1"/>
          <p:nvPr/>
        </p:nvSpPr>
        <p:spPr>
          <a:xfrm>
            <a:off x="2865514" y="5838237"/>
            <a:ext cx="1772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King Kong (1933)</a:t>
            </a:r>
          </a:p>
        </p:txBody>
      </p:sp>
    </p:spTree>
    <p:extLst>
      <p:ext uri="{BB962C8B-B14F-4D97-AF65-F5344CB8AC3E}">
        <p14:creationId xmlns:p14="http://schemas.microsoft.com/office/powerpoint/2010/main" val="79071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DB2E04-0DDE-7A3F-382E-7B31E29DD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Problem of Scaling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1A2164-8B8D-2318-19E6-5414D6E6C392}"/>
              </a:ext>
            </a:extLst>
          </p:cNvPr>
          <p:cNvSpPr txBox="1"/>
          <p:nvPr/>
        </p:nvSpPr>
        <p:spPr>
          <a:xfrm>
            <a:off x="2865514" y="5838237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Them (1954)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54A286-2B75-BF97-F1AE-5F316DDDD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388" y="1956363"/>
            <a:ext cx="6429217" cy="373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38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DB2E04-0DDE-7A3F-382E-7B31E29DD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" y="0"/>
            <a:ext cx="12192000" cy="969817"/>
          </a:xfrm>
        </p:spPr>
        <p:txBody>
          <a:bodyPr>
            <a:normAutofit/>
          </a:bodyPr>
          <a:lstStyle/>
          <a:p>
            <a:r>
              <a:rPr lang="en-US" sz="4000" dirty="0"/>
              <a:t>The Problem of Scaling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1A2164-8B8D-2318-19E6-5414D6E6C392}"/>
              </a:ext>
            </a:extLst>
          </p:cNvPr>
          <p:cNvSpPr txBox="1"/>
          <p:nvPr/>
        </p:nvSpPr>
        <p:spPr>
          <a:xfrm>
            <a:off x="3522403" y="6080537"/>
            <a:ext cx="3589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Incredible Shrinking Man (1957)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3AC593-8E2C-9B47-0D1B-21946B1792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403" y="1890961"/>
            <a:ext cx="5147187" cy="409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49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C7366-BD91-0076-5044-3C07CB271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Physiological Demand and Supply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32D979B-BA3D-0BAA-7885-4D63CA9CF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732" y="1148244"/>
            <a:ext cx="5022753" cy="2863846"/>
          </a:xfrm>
        </p:spPr>
        <p:txBody>
          <a:bodyPr/>
          <a:lstStyle/>
          <a:p>
            <a:r>
              <a:rPr lang="en-US" dirty="0"/>
              <a:t>“Supply” -&gt; surface area (L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r>
              <a:rPr lang="en-US" dirty="0"/>
              <a:t>“Demand” -&gt; on volume (L</a:t>
            </a:r>
            <a:r>
              <a:rPr lang="en-US" baseline="30000" dirty="0"/>
              <a:t>3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Prism And Basal Pinacoid Red">
                <a:extLst>
                  <a:ext uri="{FF2B5EF4-FFF2-40B4-BE49-F238E27FC236}">
                    <a16:creationId xmlns:a16="http://schemas.microsoft.com/office/drawing/2014/main" id="{D98BBE6B-13B7-3628-D152-F748BA0F0FF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41050721"/>
                  </p:ext>
                </p:extLst>
              </p:nvPr>
            </p:nvGraphicFramePr>
            <p:xfrm>
              <a:off x="7144020" y="453762"/>
              <a:ext cx="4641642" cy="526662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641642" cy="5266627"/>
                    </a:xfrm>
                    <a:prstGeom prst="rect">
                      <a:avLst/>
                    </a:prstGeom>
                  </am3d:spPr>
                  <am3d:camera>
                    <am3d:pos x="0" y="0" z="8146915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9970" d="1000000"/>
                    <am3d:preTrans dx="-76" dy="-17999982" dz="1"/>
                    <am3d:scale>
                      <am3d:sx n="1000000" d="1000000"/>
                      <am3d:sy n="1000000" d="1000000"/>
                      <am3d:sz n="1000000" d="1000000"/>
                    </am3d:scale>
                    <am3d:rot ax="2114767" ay="2922870" az="167805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41866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Prism And Basal Pinacoid Red">
                <a:extLst>
                  <a:ext uri="{FF2B5EF4-FFF2-40B4-BE49-F238E27FC236}">
                    <a16:creationId xmlns:a16="http://schemas.microsoft.com/office/drawing/2014/main" id="{D98BBE6B-13B7-3628-D152-F748BA0F0FF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44020" y="453762"/>
                <a:ext cx="4641642" cy="5266627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E9AD58-8E88-7CEA-D83C-981CAB3A8093}"/>
              </a:ext>
            </a:extLst>
          </p:cNvPr>
          <p:cNvCxnSpPr/>
          <p:nvPr/>
        </p:nvCxnSpPr>
        <p:spPr>
          <a:xfrm flipH="1" flipV="1">
            <a:off x="7315200" y="4668253"/>
            <a:ext cx="2286000" cy="12753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F14A910-AFF1-5A6A-3101-55740285AF93}"/>
              </a:ext>
            </a:extLst>
          </p:cNvPr>
          <p:cNvSpPr txBox="1"/>
          <p:nvPr/>
        </p:nvSpPr>
        <p:spPr>
          <a:xfrm>
            <a:off x="6858723" y="5305926"/>
            <a:ext cx="16732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Length = x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0F8241-5201-DC19-1796-F9C25C0815A6}"/>
              </a:ext>
            </a:extLst>
          </p:cNvPr>
          <p:cNvCxnSpPr/>
          <p:nvPr/>
        </p:nvCxnSpPr>
        <p:spPr>
          <a:xfrm>
            <a:off x="692953" y="4005211"/>
            <a:ext cx="0" cy="22188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461C56-2F1F-1A43-6F7A-E30B35138508}"/>
              </a:ext>
            </a:extLst>
          </p:cNvPr>
          <p:cNvCxnSpPr>
            <a:cxnSpLocks/>
          </p:cNvCxnSpPr>
          <p:nvPr/>
        </p:nvCxnSpPr>
        <p:spPr>
          <a:xfrm flipH="1">
            <a:off x="692953" y="6224062"/>
            <a:ext cx="20614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14">
            <a:extLst>
              <a:ext uri="{FF2B5EF4-FFF2-40B4-BE49-F238E27FC236}">
                <a16:creationId xmlns:a16="http://schemas.microsoft.com/office/drawing/2014/main" id="{1295B086-7DC0-E569-5536-BB5757AC0F98}"/>
              </a:ext>
            </a:extLst>
          </p:cNvPr>
          <p:cNvSpPr/>
          <p:nvPr/>
        </p:nvSpPr>
        <p:spPr>
          <a:xfrm>
            <a:off x="637799" y="5024043"/>
            <a:ext cx="1727589" cy="907525"/>
          </a:xfrm>
          <a:custGeom>
            <a:avLst/>
            <a:gdLst>
              <a:gd name="connsiteX0" fmla="*/ 0 w 1962214"/>
              <a:gd name="connsiteY0" fmla="*/ 1587239 h 1587239"/>
              <a:gd name="connsiteX1" fmla="*/ 842211 w 1962214"/>
              <a:gd name="connsiteY1" fmla="*/ 1466923 h 1587239"/>
              <a:gd name="connsiteX2" fmla="*/ 1467853 w 1962214"/>
              <a:gd name="connsiteY2" fmla="*/ 889408 h 1587239"/>
              <a:gd name="connsiteX3" fmla="*/ 1900990 w 1962214"/>
              <a:gd name="connsiteY3" fmla="*/ 71260 h 1587239"/>
              <a:gd name="connsiteX4" fmla="*/ 1949116 w 1962214"/>
              <a:gd name="connsiteY4" fmla="*/ 95323 h 1587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62214" h="1587239">
                <a:moveTo>
                  <a:pt x="0" y="1587239"/>
                </a:moveTo>
                <a:cubicBezTo>
                  <a:pt x="298784" y="1585233"/>
                  <a:pt x="597569" y="1583228"/>
                  <a:pt x="842211" y="1466923"/>
                </a:cubicBezTo>
                <a:cubicBezTo>
                  <a:pt x="1086853" y="1350618"/>
                  <a:pt x="1291390" y="1122019"/>
                  <a:pt x="1467853" y="889408"/>
                </a:cubicBezTo>
                <a:cubicBezTo>
                  <a:pt x="1644316" y="656797"/>
                  <a:pt x="1820780" y="203607"/>
                  <a:pt x="1900990" y="71260"/>
                </a:cubicBezTo>
                <a:cubicBezTo>
                  <a:pt x="1981200" y="-61087"/>
                  <a:pt x="1965158" y="17118"/>
                  <a:pt x="1949116" y="9532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46F2CB6D-F609-2B0B-BC6C-AD2E9A68DE3B}"/>
              </a:ext>
            </a:extLst>
          </p:cNvPr>
          <p:cNvSpPr/>
          <p:nvPr/>
        </p:nvSpPr>
        <p:spPr>
          <a:xfrm>
            <a:off x="692954" y="3351401"/>
            <a:ext cx="957178" cy="2125689"/>
          </a:xfrm>
          <a:custGeom>
            <a:avLst/>
            <a:gdLst>
              <a:gd name="connsiteX0" fmla="*/ 0 w 884989"/>
              <a:gd name="connsiteY0" fmla="*/ 2547809 h 2547809"/>
              <a:gd name="connsiteX1" fmla="*/ 336884 w 884989"/>
              <a:gd name="connsiteY1" fmla="*/ 2210924 h 2547809"/>
              <a:gd name="connsiteX2" fmla="*/ 601579 w 884989"/>
              <a:gd name="connsiteY2" fmla="*/ 1416840 h 2547809"/>
              <a:gd name="connsiteX3" fmla="*/ 866274 w 884989"/>
              <a:gd name="connsiteY3" fmla="*/ 117430 h 2547809"/>
              <a:gd name="connsiteX4" fmla="*/ 842211 w 884989"/>
              <a:gd name="connsiteY4" fmla="*/ 141493 h 2547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4989" h="2547809">
                <a:moveTo>
                  <a:pt x="0" y="2547809"/>
                </a:moveTo>
                <a:cubicBezTo>
                  <a:pt x="118310" y="2473614"/>
                  <a:pt x="236621" y="2399419"/>
                  <a:pt x="336884" y="2210924"/>
                </a:cubicBezTo>
                <a:cubicBezTo>
                  <a:pt x="437147" y="2022429"/>
                  <a:pt x="513347" y="1765756"/>
                  <a:pt x="601579" y="1416840"/>
                </a:cubicBezTo>
                <a:cubicBezTo>
                  <a:pt x="689811" y="1067924"/>
                  <a:pt x="826169" y="329988"/>
                  <a:pt x="866274" y="117430"/>
                </a:cubicBezTo>
                <a:cubicBezTo>
                  <a:pt x="906379" y="-95128"/>
                  <a:pt x="874295" y="23182"/>
                  <a:pt x="842211" y="14149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FF2A64-D99F-4ADF-26B1-8FCDCB822717}"/>
              </a:ext>
            </a:extLst>
          </p:cNvPr>
          <p:cNvSpPr txBox="1"/>
          <p:nvPr/>
        </p:nvSpPr>
        <p:spPr>
          <a:xfrm>
            <a:off x="1114527" y="6331891"/>
            <a:ext cx="824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8" name="3D Model 17" descr="Prism And Basal Pinacoid Red">
                <a:extLst>
                  <a:ext uri="{FF2B5EF4-FFF2-40B4-BE49-F238E27FC236}">
                    <a16:creationId xmlns:a16="http://schemas.microsoft.com/office/drawing/2014/main" id="{735F7899-F5C9-A05A-C606-152B89C1DD2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02112941"/>
                  </p:ext>
                </p:extLst>
              </p:nvPr>
            </p:nvGraphicFramePr>
            <p:xfrm>
              <a:off x="4353652" y="3255625"/>
              <a:ext cx="1211811" cy="141811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211811" cy="1418118"/>
                    </a:xfrm>
                    <a:prstGeom prst="rect">
                      <a:avLst/>
                    </a:prstGeom>
                  </am3d:spPr>
                  <am3d:camera>
                    <am3d:pos x="0" y="0" z="8146915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9970" d="1000000"/>
                    <am3d:preTrans dx="-76" dy="-17999982" dz="1"/>
                    <am3d:scale>
                      <am3d:sx n="1000000" d="1000000"/>
                      <am3d:sy n="1000000" d="1000000"/>
                      <am3d:sz n="1000000" d="1000000"/>
                    </am3d:scale>
                    <am3d:rot ax="-8885427" ay="-2235116" az="-1239158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43430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8" name="3D Model 17" descr="Prism And Basal Pinacoid Red">
                <a:extLst>
                  <a:ext uri="{FF2B5EF4-FFF2-40B4-BE49-F238E27FC236}">
                    <a16:creationId xmlns:a16="http://schemas.microsoft.com/office/drawing/2014/main" id="{735F7899-F5C9-A05A-C606-152B89C1DD2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3652" y="3255625"/>
                <a:ext cx="1211811" cy="1418118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8CEAAD4-C463-691C-C207-84876AFA343C}"/>
              </a:ext>
            </a:extLst>
          </p:cNvPr>
          <p:cNvSpPr txBox="1"/>
          <p:nvPr/>
        </p:nvSpPr>
        <p:spPr>
          <a:xfrm>
            <a:off x="2385440" y="4782706"/>
            <a:ext cx="673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L</a:t>
            </a:r>
            <a:r>
              <a:rPr lang="en-US" sz="2800" baseline="30000" dirty="0"/>
              <a:t>2</a:t>
            </a:r>
            <a:endParaRPr 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DF92B1-CF2A-6390-6B48-90266718029F}"/>
              </a:ext>
            </a:extLst>
          </p:cNvPr>
          <p:cNvSpPr txBox="1"/>
          <p:nvPr/>
        </p:nvSpPr>
        <p:spPr>
          <a:xfrm>
            <a:off x="1650132" y="3087075"/>
            <a:ext cx="673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L</a:t>
            </a:r>
            <a:r>
              <a:rPr lang="en-US" sz="2800" baseline="30000" dirty="0"/>
              <a:t>3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95017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DB2E04-0DDE-7A3F-382E-7B31E29DD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Problem of Scaling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1A2164-8B8D-2318-19E6-5414D6E6C392}"/>
              </a:ext>
            </a:extLst>
          </p:cNvPr>
          <p:cNvSpPr txBox="1"/>
          <p:nvPr/>
        </p:nvSpPr>
        <p:spPr>
          <a:xfrm>
            <a:off x="2209800" y="6305725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Alien (1979)</a:t>
            </a:r>
          </a:p>
        </p:txBody>
      </p:sp>
      <p:pic>
        <p:nvPicPr>
          <p:cNvPr id="7" name="Picture 6" descr="A picture containing dinosaur, mammal, skeleton, fossil&#10;&#10;Description automatically generated">
            <a:extLst>
              <a:ext uri="{FF2B5EF4-FFF2-40B4-BE49-F238E27FC236}">
                <a16:creationId xmlns:a16="http://schemas.microsoft.com/office/drawing/2014/main" id="{84542660-76A6-A3A5-DA3A-267693578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812219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346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AB7F9-AF79-2581-8A29-D74061A2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Typical R User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593173-DAB1-2882-BC58-7D764C608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write and save a script</a:t>
            </a:r>
          </a:p>
          <a:p>
            <a:r>
              <a:rPr lang="en-US" dirty="0"/>
              <a:t>Can use R syntax and available functions without errors</a:t>
            </a:r>
          </a:p>
          <a:p>
            <a:r>
              <a:rPr lang="en-US" dirty="0"/>
              <a:t>Can open a simple file, analyze it, generate graphs and results</a:t>
            </a:r>
          </a:p>
        </p:txBody>
      </p:sp>
    </p:spTree>
    <p:extLst>
      <p:ext uri="{BB962C8B-B14F-4D97-AF65-F5344CB8AC3E}">
        <p14:creationId xmlns:p14="http://schemas.microsoft.com/office/powerpoint/2010/main" val="121525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AB7F9-AF79-2581-8A29-D74061A2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Scaling Problems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593173-DAB1-2882-BC58-7D764C608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5167" y="1103675"/>
            <a:ext cx="10045505" cy="2863846"/>
          </a:xfrm>
        </p:spPr>
        <p:txBody>
          <a:bodyPr>
            <a:noAutofit/>
          </a:bodyPr>
          <a:lstStyle/>
          <a:p>
            <a:r>
              <a:rPr lang="en-US" sz="2400" dirty="0"/>
              <a:t>You have written a script to open a single data file and analyze results for a single species. You have 50 species and 50 data files.</a:t>
            </a:r>
          </a:p>
          <a:p>
            <a:r>
              <a:rPr lang="en-US" sz="2400" dirty="0"/>
              <a:t>Over a period of 4 weeks, you find it necessary to add 10 new data files, remove three others, and edit the contents of 12 of the original data files.</a:t>
            </a:r>
          </a:p>
          <a:p>
            <a:r>
              <a:rPr lang="en-US" sz="2400" dirty="0"/>
              <a:t>You create a model with 3 parameters, </a:t>
            </a:r>
            <a:r>
              <a:rPr lang="en-US" sz="2400" dirty="0" err="1"/>
              <a:t>a,b</a:t>
            </a:r>
            <a:r>
              <a:rPr lang="en-US" sz="2400" dirty="0"/>
              <a:t>, and c. Your script runs correctly using a pre-assigned value for each parameter. Now you need to run it for all combinations of 10 parameter levels (n = a*b*c = 1000 combinations).</a:t>
            </a:r>
          </a:p>
          <a:p>
            <a:r>
              <a:rPr lang="en-US" sz="2400" dirty="0"/>
              <a:t>A reviewer for your paper requests a statistical analysis of the residuals for each of the regression models in your study.</a:t>
            </a:r>
          </a:p>
          <a:p>
            <a:r>
              <a:rPr lang="en-US" sz="2400" dirty="0"/>
              <a:t>The journal you are going to submit your paper to wants you supply all of the code needed to reproduce your results.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C6A7B-E910-C86A-C727-02FDE094B5EB}"/>
              </a:ext>
            </a:extLst>
          </p:cNvPr>
          <p:cNvSpPr txBox="1"/>
          <p:nvPr/>
        </p:nvSpPr>
        <p:spPr>
          <a:xfrm>
            <a:off x="4644189" y="56307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17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AB7F9-AF79-2581-8A29-D74061A2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Symptoms of Scaling Problems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593173-DAB1-2882-BC58-7D764C608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Copying and pasting many lines of code within a single script</a:t>
            </a:r>
          </a:p>
          <a:p>
            <a:r>
              <a:rPr lang="en-US" sz="2400" dirty="0"/>
              <a:t>Inconsistent formatting and obscure object and file names</a:t>
            </a:r>
          </a:p>
          <a:p>
            <a:r>
              <a:rPr lang="en-US" sz="2400" dirty="0"/>
              <a:t>Little or no annotation of code or data files</a:t>
            </a:r>
          </a:p>
          <a:p>
            <a:r>
              <a:rPr lang="en-US" sz="2400" dirty="0"/>
              <a:t>Copying, renaming, and editing entire script files</a:t>
            </a:r>
          </a:p>
          <a:p>
            <a:r>
              <a:rPr lang="en-US" sz="2400" dirty="0"/>
              <a:t>Running model variations by using “find and replace”</a:t>
            </a:r>
          </a:p>
          <a:p>
            <a:r>
              <a:rPr lang="en-US" sz="2400" dirty="0"/>
              <a:t>Copying numbers by hand from screen output</a:t>
            </a:r>
          </a:p>
          <a:p>
            <a:r>
              <a:rPr lang="en-US" sz="2400" dirty="0"/>
              <a:t>Saving graphics through GUI interface</a:t>
            </a:r>
          </a:p>
          <a:p>
            <a:r>
              <a:rPr lang="en-US" sz="2400" dirty="0"/>
              <a:t>Difficulty using the code to do anything other than its original task</a:t>
            </a:r>
          </a:p>
          <a:p>
            <a:r>
              <a:rPr lang="en-US" sz="2400" dirty="0"/>
              <a:t>Eventually, inability to fully reproduce the original analysis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3687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AB7F9-AF79-2581-8A29-D74061A2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Attributes of a Well-Scaled Large Project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593173-DAB1-2882-BC58-7D764C608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Well-organized project folders with informative file and object names</a:t>
            </a:r>
          </a:p>
          <a:p>
            <a:r>
              <a:rPr lang="en-US" sz="2400" dirty="0"/>
              <a:t>Extensive annotation of scripts and data files</a:t>
            </a:r>
          </a:p>
          <a:p>
            <a:r>
              <a:rPr lang="en-US" sz="2400" dirty="0"/>
              <a:t>Most code in user-defined functions (short, simple, limited input &amp; output)</a:t>
            </a:r>
          </a:p>
          <a:p>
            <a:r>
              <a:rPr lang="en-US" sz="2400" dirty="0"/>
              <a:t>Code can handle multiple input files through batch processing</a:t>
            </a:r>
          </a:p>
          <a:p>
            <a:r>
              <a:rPr lang="en-US" sz="2400" dirty="0"/>
              <a:t>Use of RDS objects for complex projects and collaborative coding</a:t>
            </a:r>
          </a:p>
          <a:p>
            <a:r>
              <a:rPr lang="en-US" sz="2400" dirty="0"/>
              <a:t>All output saved as .csv files or final-format image file</a:t>
            </a:r>
          </a:p>
          <a:p>
            <a:r>
              <a:rPr lang="en-US" sz="2400" dirty="0"/>
              <a:t>Relatively easy to add functionality, re-run analyses, explore new results</a:t>
            </a:r>
          </a:p>
          <a:p>
            <a:r>
              <a:rPr lang="en-US" sz="2400" dirty="0"/>
              <a:t>Holy grail: </a:t>
            </a:r>
            <a:r>
              <a:rPr lang="en-US" sz="2400" b="1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source</a:t>
            </a:r>
            <a:r>
              <a:rPr lang="en-US" sz="2400" b="1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(”Scripts/MainScript</a:t>
            </a:r>
            <a:r>
              <a:rPr lang="en-US" sz="2400" b="1" dirty="0" err="1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.R</a:t>
            </a:r>
            <a:r>
              <a:rPr lang="en-US" sz="2400" b="1" dirty="0">
                <a:solidFill>
                  <a:srgbClr val="FF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”)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221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1BDC-384B-62A2-4228-235D845E2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Organization of Code #1 Simple Script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2B673E-C022-2903-DD67-68E10D630116}"/>
              </a:ext>
            </a:extLst>
          </p:cNvPr>
          <p:cNvSpPr txBox="1"/>
          <p:nvPr/>
        </p:nvSpPr>
        <p:spPr>
          <a:xfrm>
            <a:off x="359855" y="1378995"/>
            <a:ext cx="3541294" cy="221599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library()</a:t>
            </a:r>
          </a:p>
          <a:p>
            <a:endParaRPr lang="en-US" sz="2000" dirty="0"/>
          </a:p>
          <a:p>
            <a:r>
              <a:rPr lang="en-US" sz="2000" dirty="0"/>
              <a:t>x &lt;- 3</a:t>
            </a:r>
          </a:p>
          <a:p>
            <a:r>
              <a:rPr lang="en-US" sz="2000" dirty="0"/>
              <a:t>y &lt;- 2</a:t>
            </a:r>
          </a:p>
          <a:p>
            <a:r>
              <a:rPr lang="en-US" sz="2000" dirty="0"/>
              <a:t>z &lt;- x + y</a:t>
            </a:r>
          </a:p>
          <a:p>
            <a:r>
              <a:rPr lang="en-US" sz="2000" dirty="0"/>
              <a:t>….</a:t>
            </a:r>
          </a:p>
          <a:p>
            <a:endParaRPr lang="en-US" dirty="0"/>
          </a:p>
        </p:txBody>
      </p:sp>
      <p:pic>
        <p:nvPicPr>
          <p:cNvPr id="1026" name="Picture 2" descr="Leptanilla swani">
            <a:extLst>
              <a:ext uri="{FF2B5EF4-FFF2-40B4-BE49-F238E27FC236}">
                <a16:creationId xmlns:a16="http://schemas.microsoft.com/office/drawing/2014/main" id="{847E043C-BA93-37E5-24E9-B3A281232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4" y="2925810"/>
            <a:ext cx="418235" cy="66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1567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90220-348B-D8EB-F621-BD5614577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81A9F-17A1-9103-7BF5-CD99DDBDD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Organization of Code #2 User-Defined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44417A-3CD4-A72C-EC43-FBF34FC80E0E}"/>
              </a:ext>
            </a:extLst>
          </p:cNvPr>
          <p:cNvSpPr txBox="1"/>
          <p:nvPr/>
        </p:nvSpPr>
        <p:spPr>
          <a:xfrm>
            <a:off x="359855" y="1378995"/>
            <a:ext cx="3541294" cy="2800767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library()</a:t>
            </a:r>
          </a:p>
          <a:p>
            <a:endParaRPr lang="en-US" sz="2000" dirty="0"/>
          </a:p>
          <a:p>
            <a:r>
              <a:rPr lang="en-US" sz="2000" dirty="0"/>
              <a:t>f_1 &lt;- function(shape1,shape2)</a:t>
            </a:r>
          </a:p>
          <a:p>
            <a:r>
              <a:rPr lang="en-US" dirty="0"/>
              <a:t>…’</a:t>
            </a:r>
          </a:p>
          <a:p>
            <a:r>
              <a:rPr lang="en-US" sz="2000" dirty="0"/>
              <a:t>x &lt;- 3</a:t>
            </a:r>
          </a:p>
          <a:p>
            <a:r>
              <a:rPr lang="en-US" sz="2000" dirty="0"/>
              <a:t>y &lt;- 2</a:t>
            </a:r>
          </a:p>
          <a:p>
            <a:r>
              <a:rPr lang="en-US" sz="2000" dirty="0"/>
              <a:t>z &lt;- f_1(shape1=x,shape2=y)</a:t>
            </a:r>
          </a:p>
          <a:p>
            <a:r>
              <a:rPr lang="en-US" sz="2000" dirty="0"/>
              <a:t>….</a:t>
            </a:r>
          </a:p>
          <a:p>
            <a:endParaRPr lang="en-US" dirty="0"/>
          </a:p>
        </p:txBody>
      </p:sp>
      <p:pic>
        <p:nvPicPr>
          <p:cNvPr id="2052" name="Picture 4" descr="Poecilia sphenops">
            <a:extLst>
              <a:ext uri="{FF2B5EF4-FFF2-40B4-BE49-F238E27FC236}">
                <a16:creationId xmlns:a16="http://schemas.microsoft.com/office/drawing/2014/main" id="{0C492660-40EB-1872-BD3F-D4E0D28CD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709" y="2636981"/>
            <a:ext cx="1584037" cy="158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818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B1F9F-968A-38D1-CAA9-19DB0D90E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41C9D-604D-3E12-A134-F955066C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Organization of Code #3 Separate Function Scripts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6BBF27-9EE0-63D0-434F-45885BCB6BA6}"/>
              </a:ext>
            </a:extLst>
          </p:cNvPr>
          <p:cNvSpPr txBox="1"/>
          <p:nvPr/>
        </p:nvSpPr>
        <p:spPr>
          <a:xfrm>
            <a:off x="359855" y="1378995"/>
            <a:ext cx="3541294" cy="313932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library()</a:t>
            </a:r>
          </a:p>
          <a:p>
            <a:endParaRPr lang="en-US" sz="2000" dirty="0"/>
          </a:p>
          <a:p>
            <a:r>
              <a:rPr lang="en-US" sz="2000" dirty="0" err="1"/>
              <a:t>source_batch</a:t>
            </a:r>
            <a:r>
              <a:rPr lang="en-US" sz="2000" dirty="0"/>
              <a:t>(function scripts)</a:t>
            </a:r>
          </a:p>
          <a:p>
            <a:endParaRPr lang="en-US" sz="2000" dirty="0"/>
          </a:p>
          <a:p>
            <a:r>
              <a:rPr lang="en-US" sz="2000" dirty="0"/>
              <a:t>x &lt;- 3</a:t>
            </a:r>
          </a:p>
          <a:p>
            <a:r>
              <a:rPr lang="en-US" sz="2000" dirty="0"/>
              <a:t>y &lt;- 2</a:t>
            </a:r>
          </a:p>
          <a:p>
            <a:r>
              <a:rPr lang="en-US" sz="2000" dirty="0"/>
              <a:t>z &lt;- f_1(shape1=x,shape2=y)</a:t>
            </a:r>
          </a:p>
          <a:p>
            <a:r>
              <a:rPr lang="en-US" sz="2000" dirty="0"/>
              <a:t>result &lt;- f_2(alpha=3, beta=z)</a:t>
            </a:r>
          </a:p>
          <a:p>
            <a:r>
              <a:rPr lang="en-US" sz="2000" dirty="0"/>
              <a:t>….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2CD06A-D68F-AD14-065C-877FD1B29258}"/>
              </a:ext>
            </a:extLst>
          </p:cNvPr>
          <p:cNvSpPr txBox="1"/>
          <p:nvPr/>
        </p:nvSpPr>
        <p:spPr>
          <a:xfrm>
            <a:off x="4100945" y="2440824"/>
            <a:ext cx="3103418" cy="6463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f_2 &lt;- function(</a:t>
            </a:r>
            <a:r>
              <a:rPr lang="en-US" sz="1800" dirty="0" err="1"/>
              <a:t>alpha,beta</a:t>
            </a:r>
            <a:r>
              <a:rPr lang="en-US" sz="1800" dirty="0"/>
              <a:t>)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9AC86A-45B5-263C-025C-B1AD0AE26447}"/>
              </a:ext>
            </a:extLst>
          </p:cNvPr>
          <p:cNvSpPr txBox="1"/>
          <p:nvPr/>
        </p:nvSpPr>
        <p:spPr>
          <a:xfrm>
            <a:off x="4100945" y="1378995"/>
            <a:ext cx="3103418" cy="6463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f_1 &lt;- function(shape1,shape2)</a:t>
            </a:r>
          </a:p>
          <a:p>
            <a:endParaRPr lang="en-US" dirty="0"/>
          </a:p>
        </p:txBody>
      </p:sp>
      <p:pic>
        <p:nvPicPr>
          <p:cNvPr id="4098" name="Picture 2" descr="Buteo buteo">
            <a:extLst>
              <a:ext uri="{FF2B5EF4-FFF2-40B4-BE49-F238E27FC236}">
                <a16:creationId xmlns:a16="http://schemas.microsoft.com/office/drawing/2014/main" id="{4436864B-DE14-88A2-A5A1-5453392D7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125" y="2996785"/>
            <a:ext cx="2966709" cy="283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4246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855EE-39D8-683A-074D-AE48323DE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7B902-0790-70AB-95BE-DB0AC8EA2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Organization of Code #4 Separate Function, Task Scripts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DACD2E-C969-1FD7-72F7-A25307A5C165}"/>
              </a:ext>
            </a:extLst>
          </p:cNvPr>
          <p:cNvSpPr txBox="1"/>
          <p:nvPr/>
        </p:nvSpPr>
        <p:spPr>
          <a:xfrm>
            <a:off x="359855" y="1378995"/>
            <a:ext cx="3541294" cy="313932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library()</a:t>
            </a:r>
          </a:p>
          <a:p>
            <a:endParaRPr lang="en-US" sz="2000" dirty="0"/>
          </a:p>
          <a:p>
            <a:r>
              <a:rPr lang="en-US" sz="2000" dirty="0" err="1"/>
              <a:t>source_batch</a:t>
            </a:r>
            <a:r>
              <a:rPr lang="en-US" sz="2000" dirty="0"/>
              <a:t>(function scripts)</a:t>
            </a:r>
          </a:p>
          <a:p>
            <a:endParaRPr lang="en-US" sz="2000" dirty="0"/>
          </a:p>
          <a:p>
            <a:r>
              <a:rPr lang="en-US" sz="2000" dirty="0"/>
              <a:t>x &lt;- 3</a:t>
            </a:r>
          </a:p>
          <a:p>
            <a:r>
              <a:rPr lang="en-US" sz="2000" dirty="0"/>
              <a:t>y &lt;- 2</a:t>
            </a:r>
          </a:p>
          <a:p>
            <a:r>
              <a:rPr lang="en-US" sz="2000" dirty="0"/>
              <a:t>z &lt;- f_1(shape1=x,shape2=y)</a:t>
            </a:r>
          </a:p>
          <a:p>
            <a:r>
              <a:rPr lang="en-US" sz="2000" dirty="0"/>
              <a:t>result &lt;- f_2(alpha=3, beta=z)</a:t>
            </a:r>
          </a:p>
          <a:p>
            <a:r>
              <a:rPr lang="en-US" sz="2000" dirty="0"/>
              <a:t>….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7CBBF4-7984-07A6-41A3-C03C2649FC13}"/>
              </a:ext>
            </a:extLst>
          </p:cNvPr>
          <p:cNvSpPr txBox="1"/>
          <p:nvPr/>
        </p:nvSpPr>
        <p:spPr>
          <a:xfrm>
            <a:off x="4100945" y="2440824"/>
            <a:ext cx="3103418" cy="6463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f_2 &lt;- function(</a:t>
            </a:r>
            <a:r>
              <a:rPr lang="en-US" sz="1800" dirty="0" err="1"/>
              <a:t>alpha,beta</a:t>
            </a:r>
            <a:r>
              <a:rPr lang="en-US" sz="1800" dirty="0"/>
              <a:t>)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6E39F-F9E6-795C-C730-2AB230D44D46}"/>
              </a:ext>
            </a:extLst>
          </p:cNvPr>
          <p:cNvSpPr txBox="1"/>
          <p:nvPr/>
        </p:nvSpPr>
        <p:spPr>
          <a:xfrm>
            <a:off x="4100945" y="1378995"/>
            <a:ext cx="3103418" cy="6463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f_1 &lt;- function(shape1,shape2)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1F12B-C9C1-0BBB-0C16-849A7A4A8A53}"/>
              </a:ext>
            </a:extLst>
          </p:cNvPr>
          <p:cNvSpPr txBox="1"/>
          <p:nvPr/>
        </p:nvSpPr>
        <p:spPr>
          <a:xfrm>
            <a:off x="4100945" y="3502653"/>
            <a:ext cx="3103418" cy="6463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f_3 &lt;- function(</a:t>
            </a:r>
            <a:r>
              <a:rPr lang="en-US" sz="1800" dirty="0" err="1"/>
              <a:t>delta,gamma</a:t>
            </a:r>
            <a:r>
              <a:rPr lang="en-US" sz="1800" dirty="0"/>
              <a:t>)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E4B57C-69FC-EC78-3CDA-E19CA35342C7}"/>
              </a:ext>
            </a:extLst>
          </p:cNvPr>
          <p:cNvSpPr txBox="1"/>
          <p:nvPr/>
        </p:nvSpPr>
        <p:spPr>
          <a:xfrm>
            <a:off x="4100945" y="4564482"/>
            <a:ext cx="3103418" cy="6463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f_4 &lt;- function(</a:t>
            </a:r>
            <a:r>
              <a:rPr lang="en-US" sz="1800" dirty="0" err="1"/>
              <a:t>phi,epsilon</a:t>
            </a:r>
            <a:r>
              <a:rPr lang="en-US" sz="1800" dirty="0"/>
              <a:t>)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8324EB-0C5D-D2D9-55F9-41E95CDA185B}"/>
              </a:ext>
            </a:extLst>
          </p:cNvPr>
          <p:cNvSpPr txBox="1"/>
          <p:nvPr/>
        </p:nvSpPr>
        <p:spPr>
          <a:xfrm>
            <a:off x="7661200" y="1378995"/>
            <a:ext cx="3541294" cy="313932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library()</a:t>
            </a:r>
          </a:p>
          <a:p>
            <a:endParaRPr lang="en-US" sz="2000" dirty="0"/>
          </a:p>
          <a:p>
            <a:r>
              <a:rPr lang="en-US" sz="2000" dirty="0" err="1"/>
              <a:t>source_batch</a:t>
            </a:r>
            <a:r>
              <a:rPr lang="en-US" sz="2000" dirty="0"/>
              <a:t>(function scripts)</a:t>
            </a:r>
          </a:p>
          <a:p>
            <a:endParaRPr lang="en-US" sz="2000" dirty="0"/>
          </a:p>
          <a:p>
            <a:r>
              <a:rPr lang="en-US" sz="2000" dirty="0"/>
              <a:t>xx &lt;- 3</a:t>
            </a:r>
          </a:p>
          <a:p>
            <a:r>
              <a:rPr lang="en-US" sz="2000" dirty="0" err="1"/>
              <a:t>yy</a:t>
            </a:r>
            <a:r>
              <a:rPr lang="en-US" sz="2000" dirty="0"/>
              <a:t> &lt;- 2</a:t>
            </a:r>
          </a:p>
          <a:p>
            <a:r>
              <a:rPr lang="en-US" sz="2000" dirty="0" err="1"/>
              <a:t>zz</a:t>
            </a:r>
            <a:r>
              <a:rPr lang="en-US" sz="2000" dirty="0"/>
              <a:t> &lt;- f_3(delta=</a:t>
            </a:r>
            <a:r>
              <a:rPr lang="en-US" sz="2000" dirty="0" err="1"/>
              <a:t>xx,gamma</a:t>
            </a:r>
            <a:r>
              <a:rPr lang="en-US" sz="2000" dirty="0"/>
              <a:t>=</a:t>
            </a:r>
            <a:r>
              <a:rPr lang="en-US" sz="2000" dirty="0" err="1"/>
              <a:t>yy</a:t>
            </a:r>
            <a:r>
              <a:rPr lang="en-US" sz="2000" dirty="0"/>
              <a:t>)</a:t>
            </a:r>
          </a:p>
          <a:p>
            <a:r>
              <a:rPr lang="en-US" sz="2000" dirty="0"/>
              <a:t>result &lt;- f_4(phi, epsilon)</a:t>
            </a:r>
          </a:p>
          <a:p>
            <a:r>
              <a:rPr lang="en-US" sz="2000" dirty="0"/>
              <a:t>….</a:t>
            </a:r>
          </a:p>
          <a:p>
            <a:endParaRPr lang="en-US" dirty="0"/>
          </a:p>
        </p:txBody>
      </p:sp>
      <p:pic>
        <p:nvPicPr>
          <p:cNvPr id="3076" name="Picture 4" descr="Meles meles">
            <a:extLst>
              <a:ext uri="{FF2B5EF4-FFF2-40B4-BE49-F238E27FC236}">
                <a16:creationId xmlns:a16="http://schemas.microsoft.com/office/drawing/2014/main" id="{E6147793-2484-BECE-EAA4-F9F492ECA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321" y="4148984"/>
            <a:ext cx="5226665" cy="257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329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1B192-AB50-BF5C-173E-6ED1D9F34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2B52E-8443-EDA2-999A-3A9BE34A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Organization of Code #5 Main, Function, &amp; Task Scripts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0185B5-CE5F-FF20-381A-C2EEAE0E047E}"/>
              </a:ext>
            </a:extLst>
          </p:cNvPr>
          <p:cNvSpPr txBox="1"/>
          <p:nvPr/>
        </p:nvSpPr>
        <p:spPr>
          <a:xfrm>
            <a:off x="7675418" y="3851877"/>
            <a:ext cx="1122219" cy="6463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 err="1"/>
              <a:t>ScriptB</a:t>
            </a:r>
            <a:endParaRPr lang="en-US" sz="1800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69EA92-7A3F-D9D1-10BC-E7423D8F6F68}"/>
              </a:ext>
            </a:extLst>
          </p:cNvPr>
          <p:cNvSpPr txBox="1"/>
          <p:nvPr/>
        </p:nvSpPr>
        <p:spPr>
          <a:xfrm>
            <a:off x="7675418" y="2790048"/>
            <a:ext cx="1122219" cy="6463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 err="1"/>
              <a:t>ScriptA</a:t>
            </a:r>
            <a:endParaRPr lang="en-US" sz="1800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6FF580-9ACE-994D-325C-391A4C26346A}"/>
              </a:ext>
            </a:extLst>
          </p:cNvPr>
          <p:cNvSpPr txBox="1"/>
          <p:nvPr/>
        </p:nvSpPr>
        <p:spPr>
          <a:xfrm>
            <a:off x="7675418" y="4913706"/>
            <a:ext cx="1122219" cy="6463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 err="1"/>
              <a:t>ScriptC</a:t>
            </a:r>
            <a:endParaRPr lang="en-US" sz="1800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CB59BA-B629-E2AA-D13C-9E524AD76874}"/>
              </a:ext>
            </a:extLst>
          </p:cNvPr>
          <p:cNvSpPr txBox="1"/>
          <p:nvPr/>
        </p:nvSpPr>
        <p:spPr>
          <a:xfrm>
            <a:off x="7675418" y="5975535"/>
            <a:ext cx="1122219" cy="6463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 err="1"/>
              <a:t>ScriptD</a:t>
            </a:r>
            <a:endParaRPr lang="en-US" sz="1800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AE083D-3222-0C03-78CA-F282C2563CB1}"/>
              </a:ext>
            </a:extLst>
          </p:cNvPr>
          <p:cNvSpPr txBox="1"/>
          <p:nvPr/>
        </p:nvSpPr>
        <p:spPr>
          <a:xfrm>
            <a:off x="9102436" y="3851877"/>
            <a:ext cx="1246910" cy="6463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Function2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E70EEA-D8D1-15B8-B80D-22C18A22B610}"/>
              </a:ext>
            </a:extLst>
          </p:cNvPr>
          <p:cNvSpPr txBox="1"/>
          <p:nvPr/>
        </p:nvSpPr>
        <p:spPr>
          <a:xfrm>
            <a:off x="9102436" y="2790048"/>
            <a:ext cx="1246910" cy="6463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Function1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89AEFA-7C9F-4E82-F8B0-993633789A83}"/>
              </a:ext>
            </a:extLst>
          </p:cNvPr>
          <p:cNvSpPr txBox="1"/>
          <p:nvPr/>
        </p:nvSpPr>
        <p:spPr>
          <a:xfrm>
            <a:off x="9102436" y="4913706"/>
            <a:ext cx="1246910" cy="6463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Function3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EFC71E-EB24-B97C-8E1C-433E2C4F0D37}"/>
              </a:ext>
            </a:extLst>
          </p:cNvPr>
          <p:cNvSpPr txBox="1"/>
          <p:nvPr/>
        </p:nvSpPr>
        <p:spPr>
          <a:xfrm>
            <a:off x="9102436" y="5975535"/>
            <a:ext cx="1246910" cy="6463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Function4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24592C-88B3-A757-A62A-EA2701C74D75}"/>
              </a:ext>
            </a:extLst>
          </p:cNvPr>
          <p:cNvSpPr txBox="1"/>
          <p:nvPr/>
        </p:nvSpPr>
        <p:spPr>
          <a:xfrm>
            <a:off x="7079673" y="1129633"/>
            <a:ext cx="3796145" cy="1477328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MainScript.R</a:t>
            </a:r>
            <a:endParaRPr lang="en-US" dirty="0"/>
          </a:p>
          <a:p>
            <a:r>
              <a:rPr lang="en-US" dirty="0"/>
              <a:t>library()</a:t>
            </a:r>
          </a:p>
          <a:p>
            <a:r>
              <a:rPr lang="en-US" dirty="0" err="1"/>
              <a:t>source_batch</a:t>
            </a:r>
            <a:r>
              <a:rPr lang="en-US" dirty="0"/>
              <a:t>(function scripts)</a:t>
            </a:r>
          </a:p>
          <a:p>
            <a:r>
              <a:rPr lang="en-US" dirty="0"/>
              <a:t>source(</a:t>
            </a:r>
            <a:r>
              <a:rPr lang="en-US" dirty="0" err="1"/>
              <a:t>ScriptA</a:t>
            </a:r>
            <a:r>
              <a:rPr lang="en-US" dirty="0"/>
              <a:t>)</a:t>
            </a:r>
          </a:p>
          <a:p>
            <a:r>
              <a:rPr lang="en-US" dirty="0" err="1"/>
              <a:t>source_batch</a:t>
            </a:r>
            <a:r>
              <a:rPr lang="en-US" dirty="0"/>
              <a:t>(</a:t>
            </a:r>
            <a:r>
              <a:rPr lang="en-US" dirty="0" err="1"/>
              <a:t>ScriptB</a:t>
            </a:r>
            <a:r>
              <a:rPr lang="en-US" dirty="0"/>
              <a:t>, </a:t>
            </a:r>
            <a:r>
              <a:rPr lang="en-US" dirty="0" err="1"/>
              <a:t>ScriptC</a:t>
            </a:r>
            <a:r>
              <a:rPr lang="en-US" dirty="0"/>
              <a:t>, </a:t>
            </a:r>
            <a:r>
              <a:rPr lang="en-US" dirty="0" err="1"/>
              <a:t>ScriptD</a:t>
            </a:r>
            <a:r>
              <a:rPr lang="en-US" dirty="0"/>
              <a:t>)</a:t>
            </a:r>
          </a:p>
        </p:txBody>
      </p:sp>
      <p:pic>
        <p:nvPicPr>
          <p:cNvPr id="5122" name="Picture 2" descr="Gorilla gorilla">
            <a:extLst>
              <a:ext uri="{FF2B5EF4-FFF2-40B4-BE49-F238E27FC236}">
                <a16:creationId xmlns:a16="http://schemas.microsoft.com/office/drawing/2014/main" id="{298DC63D-DC36-4624-A354-3D2CC2C8F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4" y="138545"/>
            <a:ext cx="6299489" cy="6719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3833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DB2E04-0DDE-7A3F-382E-7B31E29DD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pic>
        <p:nvPicPr>
          <p:cNvPr id="1026" name="Picture 2" descr="Walter White as Heisenberg. Let's Cook Cricut Laser - Etsy">
            <a:extLst>
              <a:ext uri="{FF2B5EF4-FFF2-40B4-BE49-F238E27FC236}">
                <a16:creationId xmlns:a16="http://schemas.microsoft.com/office/drawing/2014/main" id="{2AA50FB5-B3DE-1889-0AA4-C278A19FC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9141" y="907525"/>
            <a:ext cx="5540829" cy="5540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654202"/>
      </p:ext>
    </p:extLst>
  </p:cSld>
  <p:clrMapOvr>
    <a:masterClrMapping/>
  </p:clrMapOvr>
</p:sld>
</file>

<file path=ppt/theme/theme1.xml><?xml version="1.0" encoding="utf-8"?>
<a:theme xmlns:a="http://schemas.openxmlformats.org/drawingml/2006/main" name="beamer">
  <a:themeElements>
    <a:clrScheme name="Beamer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331B4"/>
      </a:accent1>
      <a:accent2>
        <a:srgbClr val="26268C"/>
      </a:accent2>
      <a:accent3>
        <a:srgbClr val="1C1B67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ke-Beamer" id="{75458B9E-A7A8-3047-8429-5691624E25FC}" vid="{DC71F19F-5A32-5546-8E49-EA30CD1164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</TotalTime>
  <Words>847</Words>
  <Application>Microsoft Macintosh PowerPoint</Application>
  <PresentationFormat>Widescreen</PresentationFormat>
  <Paragraphs>146</Paragraphs>
  <Slides>17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CMU Sans Serif</vt:lpstr>
      <vt:lpstr>Menlo</vt:lpstr>
      <vt:lpstr>beamer</vt:lpstr>
      <vt:lpstr>Strategic Coding Practices</vt:lpstr>
      <vt:lpstr>Outline</vt:lpstr>
      <vt:lpstr>The Problem of Scaling</vt:lpstr>
      <vt:lpstr>The Problem of Scaling</vt:lpstr>
      <vt:lpstr>The Problem of Scaling</vt:lpstr>
      <vt:lpstr>Physiological Demand and Supply</vt:lpstr>
      <vt:lpstr>The Problem of Scaling</vt:lpstr>
      <vt:lpstr>Typical R User</vt:lpstr>
      <vt:lpstr>Scaling Problems</vt:lpstr>
      <vt:lpstr>Symptoms of Scaling Problems</vt:lpstr>
      <vt:lpstr>Attributes of a Well-Scaled Large Project</vt:lpstr>
      <vt:lpstr>Organization of Code #1 Simple Script</vt:lpstr>
      <vt:lpstr>Organization of Code #2 User-Defined Functions</vt:lpstr>
      <vt:lpstr>Organization of Code #3 Separate Function Scripts</vt:lpstr>
      <vt:lpstr>Organization of Code #4 Separate Function, Task Scripts</vt:lpstr>
      <vt:lpstr>Organization of Code #5 Main, Function, &amp; Task Scripts</vt:lpstr>
      <vt:lpstr>Let’s Code!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Nice Title Here</dc:title>
  <dc:creator>Bryngelson, Spencer H.</dc:creator>
  <cp:lastModifiedBy>Nicholas Gotelli</cp:lastModifiedBy>
  <cp:revision>28</cp:revision>
  <dcterms:created xsi:type="dcterms:W3CDTF">2022-05-01T20:51:21Z</dcterms:created>
  <dcterms:modified xsi:type="dcterms:W3CDTF">2026-10-08T16:34:01Z</dcterms:modified>
</cp:coreProperties>
</file>